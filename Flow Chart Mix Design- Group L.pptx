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753600" cy="7315200"/>
  <p:notesSz cx="6858000" cy="9144000"/>
  <p:embeddedFontLst>
    <p:embeddedFont>
      <p:font typeface="Neue Machina Ultra-Bold" panose="020B0604020202020204" charset="0"/>
      <p:regular r:id="rId3"/>
    </p:embeddedFont>
    <p:embeddedFont>
      <p:font typeface="TT Interphase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55F40-A3CD-4CD2-B92C-5B528A9E05C3}" v="9" dt="2026-02-20T04:38:44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2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2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ccarthy" userId="18004dcf-c412-475b-80a0-2ade68c79210" providerId="ADAL" clId="{E3062802-7638-441D-B09A-99FB1533C448}"/>
    <pc:docChg chg="custSel modSld">
      <pc:chgData name="Michael Mccarthy" userId="18004dcf-c412-475b-80a0-2ade68c79210" providerId="ADAL" clId="{E3062802-7638-441D-B09A-99FB1533C448}" dt="2026-02-20T04:39:49.205" v="278" actId="208"/>
      <pc:docMkLst>
        <pc:docMk/>
      </pc:docMkLst>
      <pc:sldChg chg="addSp delSp modSp mod">
        <pc:chgData name="Michael Mccarthy" userId="18004dcf-c412-475b-80a0-2ade68c79210" providerId="ADAL" clId="{E3062802-7638-441D-B09A-99FB1533C448}" dt="2026-02-20T04:39:49.205" v="278" actId="208"/>
        <pc:sldMkLst>
          <pc:docMk/>
          <pc:sldMk cId="0" sldId="256"/>
        </pc:sldMkLst>
        <pc:spChg chg="mod">
          <ac:chgData name="Michael Mccarthy" userId="18004dcf-c412-475b-80a0-2ade68c79210" providerId="ADAL" clId="{E3062802-7638-441D-B09A-99FB1533C448}" dt="2026-02-20T04:29:17.336" v="22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9:09.726" v="21" actId="1582"/>
          <ac:spMkLst>
            <pc:docMk/>
            <pc:sldMk cId="0" sldId="256"/>
            <ac:spMk id="7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9:09.726" v="21" actId="1582"/>
          <ac:spMkLst>
            <pc:docMk/>
            <pc:sldMk cId="0" sldId="256"/>
            <ac:spMk id="8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9:27.460" v="24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20.245" v="31" actId="1582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20.245" v="31" actId="1582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0:41:34.062" v="1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8:12.465" v="13" actId="1582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8:12.465" v="13" actId="1582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8:23.941" v="15" actId="1582"/>
          <ac:spMkLst>
            <pc:docMk/>
            <pc:sldMk cId="0" sldId="256"/>
            <ac:spMk id="26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28:23.941" v="15" actId="1582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31.622" v="32" actId="1582"/>
          <ac:spMkLst>
            <pc:docMk/>
            <pc:sldMk cId="0" sldId="256"/>
            <ac:spMk id="30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31.622" v="32" actId="1582"/>
          <ac:spMkLst>
            <pc:docMk/>
            <pc:sldMk cId="0" sldId="256"/>
            <ac:spMk id="31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37.041" v="33" actId="1582"/>
          <ac:spMkLst>
            <pc:docMk/>
            <pc:sldMk cId="0" sldId="256"/>
            <ac:spMk id="33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37.041" v="33" actId="1582"/>
          <ac:spMkLst>
            <pc:docMk/>
            <pc:sldMk cId="0" sldId="256"/>
            <ac:spMk id="34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13.374" v="30" actId="1582"/>
          <ac:spMkLst>
            <pc:docMk/>
            <pc:sldMk cId="0" sldId="256"/>
            <ac:spMk id="36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13.374" v="30" actId="1582"/>
          <ac:spMkLst>
            <pc:docMk/>
            <pc:sldMk cId="0" sldId="256"/>
            <ac:spMk id="37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06.407" v="29" actId="1410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42.144" v="34" actId="1582"/>
          <ac:spMkLst>
            <pc:docMk/>
            <pc:sldMk cId="0" sldId="256"/>
            <ac:spMk id="41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42.144" v="34" actId="1582"/>
          <ac:spMkLst>
            <pc:docMk/>
            <pc:sldMk cId="0" sldId="256"/>
            <ac:spMk id="42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01.027" v="27" actId="1582"/>
          <ac:spMkLst>
            <pc:docMk/>
            <pc:sldMk cId="0" sldId="256"/>
            <ac:spMk id="44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01.027" v="27" actId="1582"/>
          <ac:spMkLst>
            <pc:docMk/>
            <pc:sldMk cId="0" sldId="256"/>
            <ac:spMk id="45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51.718" v="35" actId="1582"/>
          <ac:spMkLst>
            <pc:docMk/>
            <pc:sldMk cId="0" sldId="256"/>
            <ac:spMk id="50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51.718" v="35" actId="1582"/>
          <ac:spMkLst>
            <pc:docMk/>
            <pc:sldMk cId="0" sldId="256"/>
            <ac:spMk id="51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1:22.633" v="39" actId="14100"/>
          <ac:spMkLst>
            <pc:docMk/>
            <pc:sldMk cId="0" sldId="256"/>
            <ac:spMk id="53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59.185" v="36" actId="1582"/>
          <ac:spMkLst>
            <pc:docMk/>
            <pc:sldMk cId="0" sldId="256"/>
            <ac:spMk id="55" creationId="{00000000-0000-0000-0000-000000000000}"/>
          </ac:spMkLst>
        </pc:spChg>
        <pc:spChg chg="mod">
          <ac:chgData name="Michael Mccarthy" userId="18004dcf-c412-475b-80a0-2ade68c79210" providerId="ADAL" clId="{E3062802-7638-441D-B09A-99FB1533C448}" dt="2026-02-20T04:30:59.185" v="36" actId="1582"/>
          <ac:spMkLst>
            <pc:docMk/>
            <pc:sldMk cId="0" sldId="256"/>
            <ac:spMk id="56" creationId="{00000000-0000-0000-0000-000000000000}"/>
          </ac:spMkLst>
        </pc:spChg>
        <pc:spChg chg="add mod">
          <ac:chgData name="Michael Mccarthy" userId="18004dcf-c412-475b-80a0-2ade68c79210" providerId="ADAL" clId="{E3062802-7638-441D-B09A-99FB1533C448}" dt="2026-02-20T04:32:19.352" v="57" actId="20577"/>
          <ac:spMkLst>
            <pc:docMk/>
            <pc:sldMk cId="0" sldId="256"/>
            <ac:spMk id="57" creationId="{D344E65C-FE06-4D29-DD29-441CA983E511}"/>
          </ac:spMkLst>
        </pc:spChg>
        <pc:spChg chg="add mod">
          <ac:chgData name="Michael Mccarthy" userId="18004dcf-c412-475b-80a0-2ade68c79210" providerId="ADAL" clId="{E3062802-7638-441D-B09A-99FB1533C448}" dt="2026-02-20T04:38:37.426" v="265" actId="14100"/>
          <ac:spMkLst>
            <pc:docMk/>
            <pc:sldMk cId="0" sldId="256"/>
            <ac:spMk id="58" creationId="{532546C3-5429-0351-199F-3971A15EE9AB}"/>
          </ac:spMkLst>
        </pc:spChg>
        <pc:spChg chg="add del mod">
          <ac:chgData name="Michael Mccarthy" userId="18004dcf-c412-475b-80a0-2ade68c79210" providerId="ADAL" clId="{E3062802-7638-441D-B09A-99FB1533C448}" dt="2026-02-20T04:33:27.142" v="64"/>
          <ac:spMkLst>
            <pc:docMk/>
            <pc:sldMk cId="0" sldId="256"/>
            <ac:spMk id="59" creationId="{22F30619-45F8-E09A-74E2-8ED2D3DFDF11}"/>
          </ac:spMkLst>
        </pc:spChg>
        <pc:spChg chg="add mod">
          <ac:chgData name="Michael Mccarthy" userId="18004dcf-c412-475b-80a0-2ade68c79210" providerId="ADAL" clId="{E3062802-7638-441D-B09A-99FB1533C448}" dt="2026-02-20T04:34:59.655" v="126" actId="1076"/>
          <ac:spMkLst>
            <pc:docMk/>
            <pc:sldMk cId="0" sldId="256"/>
            <ac:spMk id="60" creationId="{0F943759-720E-4FD9-813B-B6BD5E9E1074}"/>
          </ac:spMkLst>
        </pc:spChg>
        <pc:spChg chg="add mod">
          <ac:chgData name="Michael Mccarthy" userId="18004dcf-c412-475b-80a0-2ade68c79210" providerId="ADAL" clId="{E3062802-7638-441D-B09A-99FB1533C448}" dt="2026-02-20T04:35:32.274" v="161" actId="20577"/>
          <ac:spMkLst>
            <pc:docMk/>
            <pc:sldMk cId="0" sldId="256"/>
            <ac:spMk id="63" creationId="{32927B98-6B8C-DC19-F520-DC0C61365B08}"/>
          </ac:spMkLst>
        </pc:spChg>
        <pc:spChg chg="add mod">
          <ac:chgData name="Michael Mccarthy" userId="18004dcf-c412-475b-80a0-2ade68c79210" providerId="ADAL" clId="{E3062802-7638-441D-B09A-99FB1533C448}" dt="2026-02-20T04:36:05.330" v="203" actId="20577"/>
          <ac:spMkLst>
            <pc:docMk/>
            <pc:sldMk cId="0" sldId="256"/>
            <ac:spMk id="64" creationId="{72721779-21E4-C380-AA51-7526529CA9C9}"/>
          </ac:spMkLst>
        </pc:spChg>
        <pc:spChg chg="add mod">
          <ac:chgData name="Michael Mccarthy" userId="18004dcf-c412-475b-80a0-2ade68c79210" providerId="ADAL" clId="{E3062802-7638-441D-B09A-99FB1533C448}" dt="2026-02-20T04:37:47.889" v="259" actId="1076"/>
          <ac:spMkLst>
            <pc:docMk/>
            <pc:sldMk cId="0" sldId="256"/>
            <ac:spMk id="65" creationId="{C48B58EB-F415-068F-7C77-A22F74D4B1EE}"/>
          </ac:spMkLst>
        </pc:spChg>
        <pc:spChg chg="add mod">
          <ac:chgData name="Michael Mccarthy" userId="18004dcf-c412-475b-80a0-2ade68c79210" providerId="ADAL" clId="{E3062802-7638-441D-B09A-99FB1533C448}" dt="2026-02-20T04:38:56.027" v="271" actId="208"/>
          <ac:spMkLst>
            <pc:docMk/>
            <pc:sldMk cId="0" sldId="256"/>
            <ac:spMk id="66" creationId="{9CF39BD6-B7F3-0023-6C6A-D2E412838813}"/>
          </ac:spMkLst>
        </pc:spChg>
        <pc:spChg chg="add mod">
          <ac:chgData name="Michael Mccarthy" userId="18004dcf-c412-475b-80a0-2ade68c79210" providerId="ADAL" clId="{E3062802-7638-441D-B09A-99FB1533C448}" dt="2026-02-20T04:39:05.794" v="272" actId="1076"/>
          <ac:spMkLst>
            <pc:docMk/>
            <pc:sldMk cId="0" sldId="256"/>
            <ac:spMk id="67" creationId="{02DB36E9-CAE1-2D07-C52D-0EFD0486167D}"/>
          </ac:spMkLst>
        </pc:spChg>
        <pc:spChg chg="add mod">
          <ac:chgData name="Michael Mccarthy" userId="18004dcf-c412-475b-80a0-2ade68c79210" providerId="ADAL" clId="{E3062802-7638-441D-B09A-99FB1533C448}" dt="2026-02-20T04:39:36.025" v="276" actId="208"/>
          <ac:spMkLst>
            <pc:docMk/>
            <pc:sldMk cId="0" sldId="256"/>
            <ac:spMk id="68" creationId="{85CA0D13-2EAE-5A72-4360-4B880092D762}"/>
          </ac:spMkLst>
        </pc:spChg>
        <pc:spChg chg="add mod">
          <ac:chgData name="Michael Mccarthy" userId="18004dcf-c412-475b-80a0-2ade68c79210" providerId="ADAL" clId="{E3062802-7638-441D-B09A-99FB1533C448}" dt="2026-02-20T04:39:49.205" v="278" actId="208"/>
          <ac:spMkLst>
            <pc:docMk/>
            <pc:sldMk cId="0" sldId="256"/>
            <ac:spMk id="69" creationId="{7C1D484B-654B-4290-FFC6-C0A248C4A78F}"/>
          </ac:spMkLst>
        </pc:spChg>
        <pc:grpChg chg="mod">
          <ac:chgData name="Michael Mccarthy" userId="18004dcf-c412-475b-80a0-2ade68c79210" providerId="ADAL" clId="{E3062802-7638-441D-B09A-99FB1533C448}" dt="2026-02-20T04:28:59.813" v="19" actId="1076"/>
          <ac:grpSpMkLst>
            <pc:docMk/>
            <pc:sldMk cId="0" sldId="256"/>
            <ac:grpSpMk id="6" creationId="{00000000-0000-0000-0000-000000000000}"/>
          </ac:grpSpMkLst>
        </pc:grpChg>
        <pc:grpChg chg="mod">
          <ac:chgData name="Michael Mccarthy" userId="18004dcf-c412-475b-80a0-2ade68c79210" providerId="ADAL" clId="{E3062802-7638-441D-B09A-99FB1533C448}" dt="2026-02-20T04:31:20.319" v="38" actId="1076"/>
          <ac:grpSpMkLst>
            <pc:docMk/>
            <pc:sldMk cId="0" sldId="256"/>
            <ac:grpSpMk id="54" creationId="{00000000-0000-0000-0000-000000000000}"/>
          </ac:grpSpMkLst>
        </pc:grpChg>
        <pc:picChg chg="add del">
          <ac:chgData name="Michael Mccarthy" userId="18004dcf-c412-475b-80a0-2ade68c79210" providerId="ADAL" clId="{E3062802-7638-441D-B09A-99FB1533C448}" dt="2026-02-20T04:35:07.112" v="128" actId="478"/>
          <ac:picMkLst>
            <pc:docMk/>
            <pc:sldMk cId="0" sldId="256"/>
            <ac:picMk id="62" creationId="{339B34BC-8E93-CC3E-895E-1DE41BD9DF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1761692"/>
            <a:ext cx="1712379" cy="505206"/>
            <a:chOff x="0" y="0"/>
            <a:chExt cx="634214" cy="187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214" cy="187113"/>
            </a:xfrm>
            <a:custGeom>
              <a:avLst/>
              <a:gdLst/>
              <a:ahLst/>
              <a:cxnLst/>
              <a:rect l="l" t="t" r="r" b="b"/>
              <a:pathLst>
                <a:path w="634214" h="187113">
                  <a:moveTo>
                    <a:pt x="93557" y="0"/>
                  </a:moveTo>
                  <a:lnTo>
                    <a:pt x="540658" y="0"/>
                  </a:lnTo>
                  <a:cubicBezTo>
                    <a:pt x="592328" y="0"/>
                    <a:pt x="634214" y="41887"/>
                    <a:pt x="634214" y="93557"/>
                  </a:cubicBezTo>
                  <a:lnTo>
                    <a:pt x="634214" y="93557"/>
                  </a:lnTo>
                  <a:cubicBezTo>
                    <a:pt x="634214" y="118369"/>
                    <a:pt x="624358" y="142166"/>
                    <a:pt x="606812" y="159711"/>
                  </a:cubicBezTo>
                  <a:cubicBezTo>
                    <a:pt x="589267" y="177257"/>
                    <a:pt x="565470" y="187113"/>
                    <a:pt x="540658" y="187113"/>
                  </a:cubicBezTo>
                  <a:lnTo>
                    <a:pt x="93557" y="187113"/>
                  </a:lnTo>
                  <a:cubicBezTo>
                    <a:pt x="68744" y="187113"/>
                    <a:pt x="44947" y="177257"/>
                    <a:pt x="27402" y="159711"/>
                  </a:cubicBezTo>
                  <a:cubicBezTo>
                    <a:pt x="9857" y="142166"/>
                    <a:pt x="0" y="118369"/>
                    <a:pt x="0" y="93557"/>
                  </a:cubicBezTo>
                  <a:lnTo>
                    <a:pt x="0" y="93557"/>
                  </a:lnTo>
                  <a:cubicBezTo>
                    <a:pt x="0" y="68744"/>
                    <a:pt x="9857" y="44947"/>
                    <a:pt x="27402" y="27402"/>
                  </a:cubicBezTo>
                  <a:cubicBezTo>
                    <a:pt x="44947" y="9857"/>
                    <a:pt x="68744" y="0"/>
                    <a:pt x="93557" y="0"/>
                  </a:cubicBezTo>
                  <a:close/>
                </a:path>
              </a:pathLst>
            </a:custGeom>
            <a:solidFill>
              <a:srgbClr val="D46B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634214" cy="196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TRANSLATE EXCEL LOGIC INTO PYTHON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1587708" y="2266899"/>
            <a:ext cx="1" cy="2504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31518" y="2546471"/>
            <a:ext cx="1712379" cy="943356"/>
            <a:chOff x="0" y="0"/>
            <a:chExt cx="634214" cy="3493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4214" cy="349391"/>
            </a:xfrm>
            <a:custGeom>
              <a:avLst/>
              <a:gdLst/>
              <a:ahLst/>
              <a:cxnLst/>
              <a:rect l="l" t="t" r="r" b="b"/>
              <a:pathLst>
                <a:path w="634214" h="349391">
                  <a:moveTo>
                    <a:pt x="0" y="0"/>
                  </a:moveTo>
                  <a:lnTo>
                    <a:pt x="634214" y="0"/>
                  </a:lnTo>
                  <a:lnTo>
                    <a:pt x="634214" y="349391"/>
                  </a:lnTo>
                  <a:lnTo>
                    <a:pt x="0" y="34939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F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634214" cy="358916"/>
            </a:xfrm>
            <a:prstGeom prst="rect">
              <a:avLst/>
            </a:prstGeom>
            <a:ln w="28575">
              <a:solidFill>
                <a:srgbClr val="FFFF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Identify user inputs (A-P) and represent them as Python variables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1587709" y="3500010"/>
            <a:ext cx="0" cy="2894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2453424" y="4080603"/>
            <a:ext cx="225079" cy="1014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678502" y="3710415"/>
            <a:ext cx="1712379" cy="943356"/>
            <a:chOff x="0" y="0"/>
            <a:chExt cx="634214" cy="3493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4214" cy="349391"/>
            </a:xfrm>
            <a:custGeom>
              <a:avLst/>
              <a:gdLst/>
              <a:ahLst/>
              <a:cxnLst/>
              <a:rect l="l" t="t" r="r" b="b"/>
              <a:pathLst>
                <a:path w="634214" h="349391">
                  <a:moveTo>
                    <a:pt x="0" y="0"/>
                  </a:moveTo>
                  <a:lnTo>
                    <a:pt x="634214" y="0"/>
                  </a:lnTo>
                  <a:lnTo>
                    <a:pt x="634214" y="349391"/>
                  </a:lnTo>
                  <a:lnTo>
                    <a:pt x="0" y="34939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634214" cy="358916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Create functions for each calculation with associated input to the outputs (Q-AA)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5167305" y="3136226"/>
            <a:ext cx="370845" cy="28614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2306428" y="1452498"/>
            <a:ext cx="3624677" cy="3903"/>
          </a:xfrm>
          <a:prstGeom prst="line">
            <a:avLst/>
          </a:prstGeom>
          <a:ln w="19050" cap="flat">
            <a:solidFill>
              <a:srgbClr val="48798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404460" y="1419453"/>
            <a:ext cx="756442" cy="66089"/>
            <a:chOff x="0" y="0"/>
            <a:chExt cx="1008589" cy="88119"/>
          </a:xfrm>
        </p:grpSpPr>
        <p:sp>
          <p:nvSpPr>
            <p:cNvPr id="17" name="Freeform 17"/>
            <p:cNvSpPr/>
            <p:nvPr/>
          </p:nvSpPr>
          <p:spPr>
            <a:xfrm>
              <a:off x="920470" y="0"/>
              <a:ext cx="88119" cy="88119"/>
            </a:xfrm>
            <a:custGeom>
              <a:avLst/>
              <a:gdLst/>
              <a:ahLst/>
              <a:cxnLst/>
              <a:rect l="l" t="t" r="r" b="b"/>
              <a:pathLst>
                <a:path w="88119" h="88119">
                  <a:moveTo>
                    <a:pt x="0" y="0"/>
                  </a:moveTo>
                  <a:lnTo>
                    <a:pt x="88119" y="0"/>
                  </a:lnTo>
                  <a:lnTo>
                    <a:pt x="88119" y="88119"/>
                  </a:lnTo>
                  <a:lnTo>
                    <a:pt x="0" y="8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60235" y="0"/>
              <a:ext cx="88119" cy="88119"/>
            </a:xfrm>
            <a:custGeom>
              <a:avLst/>
              <a:gdLst/>
              <a:ahLst/>
              <a:cxnLst/>
              <a:rect l="l" t="t" r="r" b="b"/>
              <a:pathLst>
                <a:path w="88119" h="88119">
                  <a:moveTo>
                    <a:pt x="0" y="0"/>
                  </a:moveTo>
                  <a:lnTo>
                    <a:pt x="88119" y="0"/>
                  </a:lnTo>
                  <a:lnTo>
                    <a:pt x="88119" y="88119"/>
                  </a:lnTo>
                  <a:lnTo>
                    <a:pt x="0" y="8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88119" cy="88119"/>
            </a:xfrm>
            <a:custGeom>
              <a:avLst/>
              <a:gdLst/>
              <a:ahLst/>
              <a:cxnLst/>
              <a:rect l="l" t="t" r="r" b="b"/>
              <a:pathLst>
                <a:path w="88119" h="88119">
                  <a:moveTo>
                    <a:pt x="0" y="0"/>
                  </a:moveTo>
                  <a:lnTo>
                    <a:pt x="88119" y="0"/>
                  </a:lnTo>
                  <a:lnTo>
                    <a:pt x="88119" y="88119"/>
                  </a:lnTo>
                  <a:lnTo>
                    <a:pt x="0" y="8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741045" y="1323708"/>
            <a:ext cx="530065" cy="238529"/>
          </a:xfrm>
          <a:custGeom>
            <a:avLst/>
            <a:gdLst/>
            <a:ahLst/>
            <a:cxnLst/>
            <a:rect l="l" t="t" r="r" b="b"/>
            <a:pathLst>
              <a:path w="530065" h="238529">
                <a:moveTo>
                  <a:pt x="0" y="0"/>
                </a:moveTo>
                <a:lnTo>
                  <a:pt x="530065" y="0"/>
                </a:lnTo>
                <a:lnTo>
                  <a:pt x="530065" y="238529"/>
                </a:lnTo>
                <a:lnTo>
                  <a:pt x="0" y="23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731520" y="412484"/>
            <a:ext cx="5199585" cy="71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AUTOMATION OF CONCRETE MIX DESIGN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1045" y="4743778"/>
            <a:ext cx="1712379" cy="733806"/>
            <a:chOff x="0" y="0"/>
            <a:chExt cx="634214" cy="2717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4214" cy="271780"/>
            </a:xfrm>
            <a:custGeom>
              <a:avLst/>
              <a:gdLst/>
              <a:ahLst/>
              <a:cxnLst/>
              <a:rect l="l" t="t" r="r" b="b"/>
              <a:pathLst>
                <a:path w="634214" h="271780">
                  <a:moveTo>
                    <a:pt x="0" y="0"/>
                  </a:moveTo>
                  <a:lnTo>
                    <a:pt x="634214" y="0"/>
                  </a:lnTo>
                  <a:lnTo>
                    <a:pt x="634214" y="271780"/>
                  </a:lnTo>
                  <a:lnTo>
                    <a:pt x="0" y="27178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F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634214" cy="281305"/>
            </a:xfrm>
            <a:prstGeom prst="rect">
              <a:avLst/>
            </a:prstGeom>
            <a:ln w="28575">
              <a:solidFill>
                <a:srgbClr val="FFFF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Identify numerical constants for measurements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1045" y="3815190"/>
            <a:ext cx="1712379" cy="530825"/>
            <a:chOff x="0" y="0"/>
            <a:chExt cx="634214" cy="1966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4214" cy="196602"/>
            </a:xfrm>
            <a:custGeom>
              <a:avLst/>
              <a:gdLst/>
              <a:ahLst/>
              <a:cxnLst/>
              <a:rect l="l" t="t" r="r" b="b"/>
              <a:pathLst>
                <a:path w="634214" h="196602">
                  <a:moveTo>
                    <a:pt x="0" y="0"/>
                  </a:moveTo>
                  <a:lnTo>
                    <a:pt x="634214" y="0"/>
                  </a:lnTo>
                  <a:lnTo>
                    <a:pt x="634214" y="196602"/>
                  </a:lnTo>
                  <a:lnTo>
                    <a:pt x="0" y="19660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F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34214" cy="206127"/>
            </a:xfrm>
            <a:prstGeom prst="rect">
              <a:avLst/>
            </a:prstGeom>
            <a:ln w="28575">
              <a:solidFill>
                <a:srgbClr val="FFFF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Identify formulas for each calculation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flipH="1">
            <a:off x="1597234" y="4346016"/>
            <a:ext cx="0" cy="3977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5538152" y="1957603"/>
            <a:ext cx="1712379" cy="1152906"/>
            <a:chOff x="0" y="0"/>
            <a:chExt cx="634214" cy="42700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4214" cy="427002"/>
            </a:xfrm>
            <a:custGeom>
              <a:avLst/>
              <a:gdLst/>
              <a:ahLst/>
              <a:cxnLst/>
              <a:rect l="l" t="t" r="r" b="b"/>
              <a:pathLst>
                <a:path w="634214" h="427002">
                  <a:moveTo>
                    <a:pt x="0" y="0"/>
                  </a:moveTo>
                  <a:lnTo>
                    <a:pt x="634214" y="0"/>
                  </a:lnTo>
                  <a:lnTo>
                    <a:pt x="634214" y="427002"/>
                  </a:lnTo>
                  <a:lnTo>
                    <a:pt x="0" y="42700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634214" cy="436527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 dirty="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Prompt the user for material quantities in the same order as the Excel spreadsheet as inputs (A-D)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31749" y="3443884"/>
            <a:ext cx="1712379" cy="943356"/>
            <a:chOff x="0" y="0"/>
            <a:chExt cx="634214" cy="34939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4214" cy="349391"/>
            </a:xfrm>
            <a:custGeom>
              <a:avLst/>
              <a:gdLst/>
              <a:ahLst/>
              <a:cxnLst/>
              <a:rect l="l" t="t" r="r" b="b"/>
              <a:pathLst>
                <a:path w="634214" h="349391">
                  <a:moveTo>
                    <a:pt x="0" y="0"/>
                  </a:moveTo>
                  <a:lnTo>
                    <a:pt x="634214" y="0"/>
                  </a:lnTo>
                  <a:lnTo>
                    <a:pt x="634214" y="349391"/>
                  </a:lnTo>
                  <a:lnTo>
                    <a:pt x="0" y="34939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634214" cy="358916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Prompt the user for target design parameters</a:t>
              </a: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(E-I)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78502" y="4946758"/>
            <a:ext cx="1712379" cy="733806"/>
            <a:chOff x="0" y="0"/>
            <a:chExt cx="634214" cy="2717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4214" cy="271780"/>
            </a:xfrm>
            <a:custGeom>
              <a:avLst/>
              <a:gdLst/>
              <a:ahLst/>
              <a:cxnLst/>
              <a:rect l="l" t="t" r="r" b="b"/>
              <a:pathLst>
                <a:path w="634214" h="271780">
                  <a:moveTo>
                    <a:pt x="0" y="0"/>
                  </a:moveTo>
                  <a:lnTo>
                    <a:pt x="634214" y="0"/>
                  </a:lnTo>
                  <a:lnTo>
                    <a:pt x="634214" y="271780"/>
                  </a:lnTo>
                  <a:lnTo>
                    <a:pt x="0" y="27178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634214" cy="281305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Create conversion rate variable with constants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2453424" y="5110681"/>
            <a:ext cx="225079" cy="2029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3534692" y="5680565"/>
            <a:ext cx="656308" cy="2672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5831749" y="4653771"/>
            <a:ext cx="1712379" cy="733806"/>
            <a:chOff x="0" y="0"/>
            <a:chExt cx="634214" cy="2717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4214" cy="271780"/>
            </a:xfrm>
            <a:custGeom>
              <a:avLst/>
              <a:gdLst/>
              <a:ahLst/>
              <a:cxnLst/>
              <a:rect l="l" t="t" r="r" b="b"/>
              <a:pathLst>
                <a:path w="634214" h="271780">
                  <a:moveTo>
                    <a:pt x="0" y="0"/>
                  </a:moveTo>
                  <a:lnTo>
                    <a:pt x="634214" y="0"/>
                  </a:lnTo>
                  <a:lnTo>
                    <a:pt x="634214" y="271780"/>
                  </a:lnTo>
                  <a:lnTo>
                    <a:pt x="0" y="27178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B05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634214" cy="281305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Prompt user for specific gravity values (J-P)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454926" y="5997702"/>
            <a:ext cx="1712379" cy="1152906"/>
            <a:chOff x="0" y="0"/>
            <a:chExt cx="634214" cy="42700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34214" cy="427002"/>
            </a:xfrm>
            <a:custGeom>
              <a:avLst/>
              <a:gdLst/>
              <a:ahLst/>
              <a:cxnLst/>
              <a:rect l="l" t="t" r="r" b="b"/>
              <a:pathLst>
                <a:path w="634214" h="427002">
                  <a:moveTo>
                    <a:pt x="0" y="0"/>
                  </a:moveTo>
                  <a:lnTo>
                    <a:pt x="634214" y="0"/>
                  </a:lnTo>
                  <a:lnTo>
                    <a:pt x="634214" y="427002"/>
                  </a:lnTo>
                  <a:lnTo>
                    <a:pt x="0" y="42700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634214" cy="436527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Merge calculation functions in the same sequence as the Excel workbook with dependent functions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>
            <a:off x="4390881" y="4182093"/>
            <a:ext cx="467374" cy="18156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>
            <a:off x="6394341" y="3110509"/>
            <a:ext cx="293597" cy="3333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AutoShape 48"/>
          <p:cNvSpPr/>
          <p:nvPr/>
        </p:nvSpPr>
        <p:spPr>
          <a:xfrm>
            <a:off x="6687938" y="4387240"/>
            <a:ext cx="0" cy="2665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>
            <a:off x="5822224" y="5805612"/>
            <a:ext cx="1712379" cy="943356"/>
            <a:chOff x="0" y="0"/>
            <a:chExt cx="634214" cy="34939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4214" cy="349391"/>
            </a:xfrm>
            <a:custGeom>
              <a:avLst/>
              <a:gdLst/>
              <a:ahLst/>
              <a:cxnLst/>
              <a:rect l="l" t="t" r="r" b="b"/>
              <a:pathLst>
                <a:path w="634214" h="349391">
                  <a:moveTo>
                    <a:pt x="0" y="0"/>
                  </a:moveTo>
                  <a:lnTo>
                    <a:pt x="634214" y="0"/>
                  </a:lnTo>
                  <a:lnTo>
                    <a:pt x="634214" y="349391"/>
                  </a:lnTo>
                  <a:lnTo>
                    <a:pt x="0" y="34939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634214" cy="358916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Use defined functions to calculate output values for the prompted mix design 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 flipH="1">
            <a:off x="6678413" y="5387577"/>
            <a:ext cx="9525" cy="418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53"/>
          <p:cNvSpPr/>
          <p:nvPr/>
        </p:nvSpPr>
        <p:spPr>
          <a:xfrm flipV="1">
            <a:off x="7534602" y="3676293"/>
            <a:ext cx="426349" cy="26009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4" name="Group 54"/>
          <p:cNvGrpSpPr/>
          <p:nvPr/>
        </p:nvGrpSpPr>
        <p:grpSpPr>
          <a:xfrm>
            <a:off x="7934494" y="2655785"/>
            <a:ext cx="1712379" cy="994791"/>
            <a:chOff x="0" y="-19050"/>
            <a:chExt cx="634214" cy="36844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34214" cy="349391"/>
            </a:xfrm>
            <a:custGeom>
              <a:avLst/>
              <a:gdLst/>
              <a:ahLst/>
              <a:cxnLst/>
              <a:rect l="l" t="t" r="r" b="b"/>
              <a:pathLst>
                <a:path w="634214" h="349391">
                  <a:moveTo>
                    <a:pt x="0" y="0"/>
                  </a:moveTo>
                  <a:lnTo>
                    <a:pt x="634214" y="0"/>
                  </a:lnTo>
                  <a:lnTo>
                    <a:pt x="634214" y="349391"/>
                  </a:lnTo>
                  <a:lnTo>
                    <a:pt x="0" y="34939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30A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634214" cy="358916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Present the results of the mix design calculation with </a:t>
              </a:r>
            </a:p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 dirty="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f-strings for the user 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344E65C-FE06-4D29-DD29-441CA983E511}"/>
              </a:ext>
            </a:extLst>
          </p:cNvPr>
          <p:cNvSpPr txBox="1"/>
          <p:nvPr/>
        </p:nvSpPr>
        <p:spPr>
          <a:xfrm>
            <a:off x="6981825" y="30483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LEGEND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2546C3-5429-0351-199F-3971A15EE9AB}"/>
              </a:ext>
            </a:extLst>
          </p:cNvPr>
          <p:cNvSpPr/>
          <p:nvPr/>
        </p:nvSpPr>
        <p:spPr>
          <a:xfrm>
            <a:off x="6887635" y="738121"/>
            <a:ext cx="1926487" cy="91182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SADFD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943759-720E-4FD9-813B-B6BD5E9E1074}"/>
              </a:ext>
            </a:extLst>
          </p:cNvPr>
          <p:cNvSpPr txBox="1"/>
          <p:nvPr/>
        </p:nvSpPr>
        <p:spPr>
          <a:xfrm>
            <a:off x="6864196" y="768083"/>
            <a:ext cx="1926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Research and Planning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927B98-6B8C-DC19-F520-DC0C61365B08}"/>
              </a:ext>
            </a:extLst>
          </p:cNvPr>
          <p:cNvSpPr txBox="1"/>
          <p:nvPr/>
        </p:nvSpPr>
        <p:spPr>
          <a:xfrm>
            <a:off x="6864196" y="937460"/>
            <a:ext cx="1926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Python computation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721779-21E4-C380-AA51-7526529CA9C9}"/>
              </a:ext>
            </a:extLst>
          </p:cNvPr>
          <p:cNvSpPr txBox="1"/>
          <p:nvPr/>
        </p:nvSpPr>
        <p:spPr>
          <a:xfrm>
            <a:off x="6864195" y="1123416"/>
            <a:ext cx="1926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User Inputs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8B58EB-F415-068F-7C77-A22F74D4B1EE}"/>
              </a:ext>
            </a:extLst>
          </p:cNvPr>
          <p:cNvSpPr txBox="1"/>
          <p:nvPr/>
        </p:nvSpPr>
        <p:spPr>
          <a:xfrm>
            <a:off x="6854670" y="1329386"/>
            <a:ext cx="1926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Python Output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CF39BD6-B7F3-0023-6C6A-D2E412838813}"/>
              </a:ext>
            </a:extLst>
          </p:cNvPr>
          <p:cNvSpPr/>
          <p:nvPr/>
        </p:nvSpPr>
        <p:spPr>
          <a:xfrm>
            <a:off x="8271806" y="838199"/>
            <a:ext cx="342334" cy="9926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2DB36E9-CAE1-2D07-C52D-0EFD0486167D}"/>
              </a:ext>
            </a:extLst>
          </p:cNvPr>
          <p:cNvSpPr/>
          <p:nvPr/>
        </p:nvSpPr>
        <p:spPr>
          <a:xfrm>
            <a:off x="8271240" y="1000933"/>
            <a:ext cx="342334" cy="992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CA0D13-2EAE-5A72-4360-4B880092D762}"/>
              </a:ext>
            </a:extLst>
          </p:cNvPr>
          <p:cNvSpPr/>
          <p:nvPr/>
        </p:nvSpPr>
        <p:spPr>
          <a:xfrm>
            <a:off x="8271240" y="1212928"/>
            <a:ext cx="342334" cy="9926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C1D484B-654B-4290-FFC6-C0A248C4A78F}"/>
              </a:ext>
            </a:extLst>
          </p:cNvPr>
          <p:cNvSpPr/>
          <p:nvPr/>
        </p:nvSpPr>
        <p:spPr>
          <a:xfrm>
            <a:off x="8271240" y="1409386"/>
            <a:ext cx="342334" cy="992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140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TT Interphases Bold</vt:lpstr>
      <vt:lpstr>Arial</vt:lpstr>
      <vt:lpstr>Calibri</vt:lpstr>
      <vt:lpstr>Neue Machina Ultra-Bold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Pink Modern Business Process Flowchart Diagram</dc:title>
  <cp:lastModifiedBy>Michael Mccarthy</cp:lastModifiedBy>
  <cp:revision>1</cp:revision>
  <dcterms:created xsi:type="dcterms:W3CDTF">2006-08-16T00:00:00Z</dcterms:created>
  <dcterms:modified xsi:type="dcterms:W3CDTF">2026-02-20T04:39:50Z</dcterms:modified>
  <dc:identifier>DAHBz6fRX0U</dc:identifier>
</cp:coreProperties>
</file>